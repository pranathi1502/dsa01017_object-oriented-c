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5C5ED3-2E1F-43FA-B609-AEF48FD843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2B38530-775B-444D-9590-7428AD51969C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>
            <a:lnSpc>
              <a:spcPct val="100000"/>
            </a:lnSpc>
          </a:pPr>
          <a:r>
            <a:rPr lang="en-IN" sz="1700" dirty="0">
              <a:latin typeface="Times New Roman" panose="02020603050405020304" pitchFamily="18" charset="0"/>
              <a:cs typeface="Times New Roman" panose="02020603050405020304" pitchFamily="18" charset="0"/>
            </a:rPr>
            <a:t>PMS is a centralized desktop application developed using C++ and Qt to manage project activities through a single, user-friendly interface.</a:t>
          </a:r>
        </a:p>
      </dgm:t>
    </dgm:pt>
    <dgm:pt modelId="{0FE758AC-C589-4EF8-94E2-EE1E943C2D8A}" type="parTrans" cxnId="{E026CE5F-2F34-4F7B-9847-2B0A3842E35D}">
      <dgm:prSet/>
      <dgm:spPr/>
      <dgm:t>
        <a:bodyPr/>
        <a:lstStyle/>
        <a:p>
          <a:endParaRPr lang="en-IN"/>
        </a:p>
      </dgm:t>
    </dgm:pt>
    <dgm:pt modelId="{CA8D9A74-4162-422E-9257-32EDFF7FB36F}" type="sibTrans" cxnId="{E026CE5F-2F34-4F7B-9847-2B0A3842E35D}">
      <dgm:prSet/>
      <dgm:spPr/>
      <dgm:t>
        <a:bodyPr/>
        <a:lstStyle/>
        <a:p>
          <a:endParaRPr lang="en-IN"/>
        </a:p>
      </dgm:t>
    </dgm:pt>
    <dgm:pt modelId="{2EA39A11-F282-4C0E-BE04-93A05AB9D02F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enables users to create and organize projects, assign tasks, and manage responsibilities efficiently.</a:t>
          </a:r>
        </a:p>
      </dgm:t>
    </dgm:pt>
    <dgm:pt modelId="{DC833D16-E473-411B-93E9-F670C0FEA9D6}" type="parTrans" cxnId="{AA658623-60A7-44BA-AAC6-FAA5BF6A8372}">
      <dgm:prSet/>
      <dgm:spPr/>
      <dgm:t>
        <a:bodyPr/>
        <a:lstStyle/>
        <a:p>
          <a:endParaRPr lang="en-IN"/>
        </a:p>
      </dgm:t>
    </dgm:pt>
    <dgm:pt modelId="{8FF7A464-F425-4B92-B5A0-CD72AAA4F1AF}" type="sibTrans" cxnId="{AA658623-60A7-44BA-AAC6-FAA5BF6A8372}">
      <dgm:prSet/>
      <dgm:spPr/>
      <dgm:t>
        <a:bodyPr/>
        <a:lstStyle/>
        <a:p>
          <a:endParaRPr lang="en-IN"/>
        </a:p>
      </dgm:t>
    </dgm:pt>
    <dgm:pt modelId="{36A3385C-8D00-47A3-8946-7B1A1B83C932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>
            <a:lnSpc>
              <a:spcPct val="100000"/>
            </a:lnSpc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tracking and task status monitoring help users follow deadlines, identify pending activities, and measure project progress</a:t>
          </a:r>
          <a:r>
            <a:rPr lang="en-US" sz="2000" dirty="0">
              <a:latin typeface="Times New Roman" pitchFamily="18" charset="0"/>
              <a:cs typeface="Times New Roman" pitchFamily="18" charset="0"/>
            </a:rPr>
            <a:t>.</a:t>
          </a:r>
          <a:endParaRPr lang="en-IN" sz="2000" dirty="0">
            <a:latin typeface="Times New Roman" pitchFamily="18" charset="0"/>
            <a:cs typeface="Times New Roman" pitchFamily="18" charset="0"/>
          </a:endParaRPr>
        </a:p>
      </dgm:t>
    </dgm:pt>
    <dgm:pt modelId="{F1D2BB04-F1C5-4A27-AFB3-9C224F5CBE5F}" type="parTrans" cxnId="{4BFE9B83-1B4B-42C4-B049-BD93630B3A90}">
      <dgm:prSet/>
      <dgm:spPr/>
      <dgm:t>
        <a:bodyPr/>
        <a:lstStyle/>
        <a:p>
          <a:endParaRPr lang="en-IN"/>
        </a:p>
      </dgm:t>
    </dgm:pt>
    <dgm:pt modelId="{0669D104-6A8F-4F99-9E20-8E81C3C93B99}" type="sibTrans" cxnId="{4BFE9B83-1B4B-42C4-B049-BD93630B3A90}">
      <dgm:prSet/>
      <dgm:spPr/>
      <dgm:t>
        <a:bodyPr/>
        <a:lstStyle/>
        <a:p>
          <a:endParaRPr lang="en-IN"/>
        </a:p>
      </dgm:t>
    </dgm:pt>
    <dgm:pt modelId="{9430FB1B-3B1A-43E0-95BB-731E319C0842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collaboration features support project discussions, comments, announcements, and notifications to improve communication among team members.</a:t>
          </a:r>
          <a:r>
            <a:rPr lang="en-US" sz="2000" dirty="0">
              <a:latin typeface="Times New Roman" pitchFamily="18" charset="0"/>
              <a:cs typeface="Times New Roman" pitchFamily="18" charset="0"/>
            </a:rPr>
            <a:t>.</a:t>
          </a:r>
          <a:endParaRPr lang="en-IN" sz="2000" dirty="0">
            <a:latin typeface="Times New Roman" pitchFamily="18" charset="0"/>
            <a:cs typeface="Times New Roman" pitchFamily="18" charset="0"/>
          </a:endParaRPr>
        </a:p>
      </dgm:t>
    </dgm:pt>
    <dgm:pt modelId="{CD801D27-BDA1-4B61-93B6-F5D79E792B93}" type="parTrans" cxnId="{06E68375-0F6B-4B0B-B03A-93D6335F5D02}">
      <dgm:prSet/>
      <dgm:spPr/>
      <dgm:t>
        <a:bodyPr/>
        <a:lstStyle/>
        <a:p>
          <a:endParaRPr lang="en-IN"/>
        </a:p>
      </dgm:t>
    </dgm:pt>
    <dgm:pt modelId="{270265A2-0D73-49FB-8ED3-8039F7BA1BA2}" type="sibTrans" cxnId="{06E68375-0F6B-4B0B-B03A-93D6335F5D02}">
      <dgm:prSet/>
      <dgm:spPr/>
      <dgm:t>
        <a:bodyPr/>
        <a:lstStyle/>
        <a:p>
          <a:endParaRPr lang="en-IN"/>
        </a:p>
      </dgm:t>
    </dgm:pt>
    <dgm:pt modelId="{69685E4D-4E09-474C-B42B-0C25A76385CD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lnSpc>
              <a:spcPct val="100000"/>
            </a:lnSpc>
            <a:buNone/>
          </a:pP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The dashboard and analytics features present project progress, task status, and performance information to support better decision-making.</a:t>
          </a:r>
        </a:p>
      </dgm:t>
    </dgm:pt>
    <dgm:pt modelId="{74651F8A-7DCA-4924-8314-FDA1C7116A27}" type="parTrans" cxnId="{08679983-601E-40BA-883A-F942C346367A}">
      <dgm:prSet/>
      <dgm:spPr/>
      <dgm:t>
        <a:bodyPr/>
        <a:lstStyle/>
        <a:p>
          <a:endParaRPr lang="en-IN"/>
        </a:p>
      </dgm:t>
    </dgm:pt>
    <dgm:pt modelId="{2A8EDEAF-F8AE-496F-9BE8-18A707F1F186}" type="sibTrans" cxnId="{08679983-601E-40BA-883A-F942C346367A}">
      <dgm:prSet/>
      <dgm:spPr/>
      <dgm:t>
        <a:bodyPr/>
        <a:lstStyle/>
        <a:p>
          <a:endParaRPr lang="en-IN"/>
        </a:p>
      </dgm:t>
    </dgm:pt>
    <dgm:pt modelId="{3E049877-C866-442F-B5AA-CFF28614B6D1}" type="pres">
      <dgm:prSet presAssocID="{645C5ED3-2E1F-43FA-B609-AEF48FD843A1}" presName="linear" presStyleCnt="0">
        <dgm:presLayoutVars>
          <dgm:animLvl val="lvl"/>
          <dgm:resizeHandles val="exact"/>
        </dgm:presLayoutVars>
      </dgm:prSet>
      <dgm:spPr/>
    </dgm:pt>
    <dgm:pt modelId="{DCF8C46F-8390-41E1-8C8E-F9D87AF59172}" type="pres">
      <dgm:prSet presAssocID="{72B38530-775B-444D-9590-7428AD51969C}" presName="parentText" presStyleLbl="node1" presStyleIdx="0" presStyleCnt="5" custLinFactNeighborX="-729" custLinFactNeighborY="85737">
        <dgm:presLayoutVars>
          <dgm:chMax val="0"/>
          <dgm:bulletEnabled val="1"/>
        </dgm:presLayoutVars>
      </dgm:prSet>
      <dgm:spPr>
        <a:prstGeom prst="round1Rect">
          <a:avLst/>
        </a:prstGeom>
      </dgm:spPr>
    </dgm:pt>
    <dgm:pt modelId="{6EB8DE20-91E7-4F37-B439-268190B24DF2}" type="pres">
      <dgm:prSet presAssocID="{CA8D9A74-4162-422E-9257-32EDFF7FB36F}" presName="spacer" presStyleCnt="0"/>
      <dgm:spPr/>
    </dgm:pt>
    <dgm:pt modelId="{2D9F4914-A736-4BDE-886B-B905E75A6636}" type="pres">
      <dgm:prSet presAssocID="{2EA39A11-F282-4C0E-BE04-93A05AB9D02F}" presName="parentText" presStyleLbl="node1" presStyleIdx="1" presStyleCnt="5" custLinFactNeighborY="44170">
        <dgm:presLayoutVars>
          <dgm:chMax val="0"/>
          <dgm:bulletEnabled val="1"/>
        </dgm:presLayoutVars>
      </dgm:prSet>
      <dgm:spPr/>
    </dgm:pt>
    <dgm:pt modelId="{CDE0A62B-50D9-40F3-B2E2-F1082997142D}" type="pres">
      <dgm:prSet presAssocID="{8FF7A464-F425-4B92-B5A0-CD72AAA4F1AF}" presName="spacer" presStyleCnt="0"/>
      <dgm:spPr/>
    </dgm:pt>
    <dgm:pt modelId="{700ACD41-3368-4B14-800C-D9A058201DF8}" type="pres">
      <dgm:prSet presAssocID="{36A3385C-8D00-47A3-8946-7B1A1B83C932}" presName="parentText" presStyleLbl="node1" presStyleIdx="2" presStyleCnt="5">
        <dgm:presLayoutVars>
          <dgm:chMax val="0"/>
          <dgm:bulletEnabled val="1"/>
        </dgm:presLayoutVars>
      </dgm:prSet>
      <dgm:spPr>
        <a:prstGeom prst="round1Rect">
          <a:avLst/>
        </a:prstGeom>
      </dgm:spPr>
    </dgm:pt>
    <dgm:pt modelId="{1BB3374F-7047-4145-AA90-782EB521F055}" type="pres">
      <dgm:prSet presAssocID="{0669D104-6A8F-4F99-9E20-8E81C3C93B99}" presName="spacer" presStyleCnt="0"/>
      <dgm:spPr/>
    </dgm:pt>
    <dgm:pt modelId="{40CDF3C7-F87E-49D4-9753-B4349C559572}" type="pres">
      <dgm:prSet presAssocID="{9430FB1B-3B1A-43E0-95BB-731E319C084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5D7FE70-4075-459F-BD6D-E1639D5D80E6}" type="pres">
      <dgm:prSet presAssocID="{270265A2-0D73-49FB-8ED3-8039F7BA1BA2}" presName="spacer" presStyleCnt="0"/>
      <dgm:spPr/>
    </dgm:pt>
    <dgm:pt modelId="{7BC117C8-8ED2-4863-8E40-D3E5211D01B3}" type="pres">
      <dgm:prSet presAssocID="{69685E4D-4E09-474C-B42B-0C25A76385CD}" presName="parentText" presStyleLbl="node1" presStyleIdx="4" presStyleCnt="5">
        <dgm:presLayoutVars>
          <dgm:chMax val="0"/>
          <dgm:bulletEnabled val="1"/>
        </dgm:presLayoutVars>
      </dgm:prSet>
      <dgm:spPr>
        <a:prstGeom prst="round1Rect">
          <a:avLst/>
        </a:prstGeom>
      </dgm:spPr>
    </dgm:pt>
  </dgm:ptLst>
  <dgm:cxnLst>
    <dgm:cxn modelId="{DB6E330E-FC0F-49F1-9199-6260124425DF}" type="presOf" srcId="{69685E4D-4E09-474C-B42B-0C25A76385CD}" destId="{7BC117C8-8ED2-4863-8E40-D3E5211D01B3}" srcOrd="0" destOrd="0" presId="urn:microsoft.com/office/officeart/2005/8/layout/vList2"/>
    <dgm:cxn modelId="{2CBE411C-0B61-47AB-94B8-66262970A485}" type="presOf" srcId="{2EA39A11-F282-4C0E-BE04-93A05AB9D02F}" destId="{2D9F4914-A736-4BDE-886B-B905E75A6636}" srcOrd="0" destOrd="0" presId="urn:microsoft.com/office/officeart/2005/8/layout/vList2"/>
    <dgm:cxn modelId="{AA658623-60A7-44BA-AAC6-FAA5BF6A8372}" srcId="{645C5ED3-2E1F-43FA-B609-AEF48FD843A1}" destId="{2EA39A11-F282-4C0E-BE04-93A05AB9D02F}" srcOrd="1" destOrd="0" parTransId="{DC833D16-E473-411B-93E9-F670C0FEA9D6}" sibTransId="{8FF7A464-F425-4B92-B5A0-CD72AAA4F1AF}"/>
    <dgm:cxn modelId="{E026CE5F-2F34-4F7B-9847-2B0A3842E35D}" srcId="{645C5ED3-2E1F-43FA-B609-AEF48FD843A1}" destId="{72B38530-775B-444D-9590-7428AD51969C}" srcOrd="0" destOrd="0" parTransId="{0FE758AC-C589-4EF8-94E2-EE1E943C2D8A}" sibTransId="{CA8D9A74-4162-422E-9257-32EDFF7FB36F}"/>
    <dgm:cxn modelId="{06E68375-0F6B-4B0B-B03A-93D6335F5D02}" srcId="{645C5ED3-2E1F-43FA-B609-AEF48FD843A1}" destId="{9430FB1B-3B1A-43E0-95BB-731E319C0842}" srcOrd="3" destOrd="0" parTransId="{CD801D27-BDA1-4B61-93B6-F5D79E792B93}" sibTransId="{270265A2-0D73-49FB-8ED3-8039F7BA1BA2}"/>
    <dgm:cxn modelId="{85C2B657-ED1C-4DBB-951F-1DF0833A8DB5}" type="presOf" srcId="{72B38530-775B-444D-9590-7428AD51969C}" destId="{DCF8C46F-8390-41E1-8C8E-F9D87AF59172}" srcOrd="0" destOrd="0" presId="urn:microsoft.com/office/officeart/2005/8/layout/vList2"/>
    <dgm:cxn modelId="{602EDC79-CA42-44B1-8A64-A1626D238021}" type="presOf" srcId="{36A3385C-8D00-47A3-8946-7B1A1B83C932}" destId="{700ACD41-3368-4B14-800C-D9A058201DF8}" srcOrd="0" destOrd="0" presId="urn:microsoft.com/office/officeart/2005/8/layout/vList2"/>
    <dgm:cxn modelId="{A0896B7F-EFD2-4300-A943-FC6C09C3ED42}" type="presOf" srcId="{9430FB1B-3B1A-43E0-95BB-731E319C0842}" destId="{40CDF3C7-F87E-49D4-9753-B4349C559572}" srcOrd="0" destOrd="0" presId="urn:microsoft.com/office/officeart/2005/8/layout/vList2"/>
    <dgm:cxn modelId="{08679983-601E-40BA-883A-F942C346367A}" srcId="{645C5ED3-2E1F-43FA-B609-AEF48FD843A1}" destId="{69685E4D-4E09-474C-B42B-0C25A76385CD}" srcOrd="4" destOrd="0" parTransId="{74651F8A-7DCA-4924-8314-FDA1C7116A27}" sibTransId="{2A8EDEAF-F8AE-496F-9BE8-18A707F1F186}"/>
    <dgm:cxn modelId="{4BFE9B83-1B4B-42C4-B049-BD93630B3A90}" srcId="{645C5ED3-2E1F-43FA-B609-AEF48FD843A1}" destId="{36A3385C-8D00-47A3-8946-7B1A1B83C932}" srcOrd="2" destOrd="0" parTransId="{F1D2BB04-F1C5-4A27-AFB3-9C224F5CBE5F}" sibTransId="{0669D104-6A8F-4F99-9E20-8E81C3C93B99}"/>
    <dgm:cxn modelId="{367032A1-B54E-4F7E-884B-A9E45E0DCF01}" type="presOf" srcId="{645C5ED3-2E1F-43FA-B609-AEF48FD843A1}" destId="{3E049877-C866-442F-B5AA-CFF28614B6D1}" srcOrd="0" destOrd="0" presId="urn:microsoft.com/office/officeart/2005/8/layout/vList2"/>
    <dgm:cxn modelId="{9411F09E-8EA1-4565-B568-0B3CC0494F17}" type="presParOf" srcId="{3E049877-C866-442F-B5AA-CFF28614B6D1}" destId="{DCF8C46F-8390-41E1-8C8E-F9D87AF59172}" srcOrd="0" destOrd="0" presId="urn:microsoft.com/office/officeart/2005/8/layout/vList2"/>
    <dgm:cxn modelId="{32696BF8-9652-40E8-86B5-9A0FADC51D8C}" type="presParOf" srcId="{3E049877-C866-442F-B5AA-CFF28614B6D1}" destId="{6EB8DE20-91E7-4F37-B439-268190B24DF2}" srcOrd="1" destOrd="0" presId="urn:microsoft.com/office/officeart/2005/8/layout/vList2"/>
    <dgm:cxn modelId="{ADACA490-0141-4847-9DF2-826EE5BD3C44}" type="presParOf" srcId="{3E049877-C866-442F-B5AA-CFF28614B6D1}" destId="{2D9F4914-A736-4BDE-886B-B905E75A6636}" srcOrd="2" destOrd="0" presId="urn:microsoft.com/office/officeart/2005/8/layout/vList2"/>
    <dgm:cxn modelId="{EB853156-3CC7-4AB0-AB32-0136A6573228}" type="presParOf" srcId="{3E049877-C866-442F-B5AA-CFF28614B6D1}" destId="{CDE0A62B-50D9-40F3-B2E2-F1082997142D}" srcOrd="3" destOrd="0" presId="urn:microsoft.com/office/officeart/2005/8/layout/vList2"/>
    <dgm:cxn modelId="{0E76272F-DC6B-4402-AD3A-3430E62DFFF3}" type="presParOf" srcId="{3E049877-C866-442F-B5AA-CFF28614B6D1}" destId="{700ACD41-3368-4B14-800C-D9A058201DF8}" srcOrd="4" destOrd="0" presId="urn:microsoft.com/office/officeart/2005/8/layout/vList2"/>
    <dgm:cxn modelId="{17231C5D-3C53-4F6F-838A-FC3D8A743B3B}" type="presParOf" srcId="{3E049877-C866-442F-B5AA-CFF28614B6D1}" destId="{1BB3374F-7047-4145-AA90-782EB521F055}" srcOrd="5" destOrd="0" presId="urn:microsoft.com/office/officeart/2005/8/layout/vList2"/>
    <dgm:cxn modelId="{DD7D8A58-D405-4092-8722-758938040327}" type="presParOf" srcId="{3E049877-C866-442F-B5AA-CFF28614B6D1}" destId="{40CDF3C7-F87E-49D4-9753-B4349C559572}" srcOrd="6" destOrd="0" presId="urn:microsoft.com/office/officeart/2005/8/layout/vList2"/>
    <dgm:cxn modelId="{5D6827CB-921F-450B-B2E6-59858AF25F24}" type="presParOf" srcId="{3E049877-C866-442F-B5AA-CFF28614B6D1}" destId="{85D7FE70-4075-459F-BD6D-E1639D5D80E6}" srcOrd="7" destOrd="0" presId="urn:microsoft.com/office/officeart/2005/8/layout/vList2"/>
    <dgm:cxn modelId="{84667F25-556A-4064-8884-519A3387DB15}" type="presParOf" srcId="{3E049877-C866-442F-B5AA-CFF28614B6D1}" destId="{7BC117C8-8ED2-4863-8E40-D3E5211D01B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F8C46F-8390-41E1-8C8E-F9D87AF59172}">
      <dsp:nvSpPr>
        <dsp:cNvPr id="0" name=""/>
        <dsp:cNvSpPr/>
      </dsp:nvSpPr>
      <dsp:spPr>
        <a:xfrm>
          <a:off x="0" y="126312"/>
          <a:ext cx="10456332" cy="819000"/>
        </a:xfrm>
        <a:prstGeom prst="round1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PMS is a centralized desktop application developed using C++ and Qt to manage project activities through a single, user-friendly interface.</a:t>
          </a:r>
        </a:p>
      </dsp:txBody>
      <dsp:txXfrm>
        <a:off x="0" y="126312"/>
        <a:ext cx="10416352" cy="819000"/>
      </dsp:txXfrm>
    </dsp:sp>
    <dsp:sp modelId="{2D9F4914-A736-4BDE-886B-B905E75A6636}">
      <dsp:nvSpPr>
        <dsp:cNvPr id="0" name=""/>
        <dsp:cNvSpPr/>
      </dsp:nvSpPr>
      <dsp:spPr>
        <a:xfrm>
          <a:off x="0" y="1012626"/>
          <a:ext cx="10456332" cy="819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system enables users to create and organize projects, assign tasks, and manage responsibilities efficiently.</a:t>
          </a:r>
        </a:p>
      </dsp:txBody>
      <dsp:txXfrm>
        <a:off x="39980" y="1052606"/>
        <a:ext cx="10376372" cy="739040"/>
      </dsp:txXfrm>
    </dsp:sp>
    <dsp:sp modelId="{700ACD41-3368-4B14-800C-D9A058201DF8}">
      <dsp:nvSpPr>
        <dsp:cNvPr id="0" name=""/>
        <dsp:cNvSpPr/>
      </dsp:nvSpPr>
      <dsp:spPr>
        <a:xfrm>
          <a:off x="0" y="1895942"/>
          <a:ext cx="10456332" cy="819000"/>
        </a:xfrm>
        <a:prstGeom prst="round1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Milestone tracking and task status monitoring help users follow deadlines, identify pending activities, and measure project progress</a:t>
          </a:r>
          <a:r>
            <a:rPr lang="en-US" sz="2000" kern="1200" dirty="0">
              <a:latin typeface="Times New Roman" pitchFamily="18" charset="0"/>
              <a:cs typeface="Times New Roman" pitchFamily="18" charset="0"/>
            </a:rPr>
            <a:t>.</a:t>
          </a:r>
          <a:endParaRPr lang="en-IN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1895942"/>
        <a:ext cx="10416352" cy="819000"/>
      </dsp:txXfrm>
    </dsp:sp>
    <dsp:sp modelId="{40CDF3C7-F87E-49D4-9753-B4349C559572}">
      <dsp:nvSpPr>
        <dsp:cNvPr id="0" name=""/>
        <dsp:cNvSpPr/>
      </dsp:nvSpPr>
      <dsp:spPr>
        <a:xfrm>
          <a:off x="0" y="2830143"/>
          <a:ext cx="10456332" cy="819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Integrated collaboration features support project discussions, comments, announcements, and notifications to improve communication among team members.</a:t>
          </a:r>
          <a:r>
            <a:rPr lang="en-US" sz="2000" kern="1200" dirty="0">
              <a:latin typeface="Times New Roman" pitchFamily="18" charset="0"/>
              <a:cs typeface="Times New Roman" pitchFamily="18" charset="0"/>
            </a:rPr>
            <a:t>.</a:t>
          </a:r>
          <a:endParaRPr lang="en-IN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9980" y="2870123"/>
        <a:ext cx="10376372" cy="739040"/>
      </dsp:txXfrm>
    </dsp:sp>
    <dsp:sp modelId="{7BC117C8-8ED2-4863-8E40-D3E5211D01B3}">
      <dsp:nvSpPr>
        <dsp:cNvPr id="0" name=""/>
        <dsp:cNvSpPr/>
      </dsp:nvSpPr>
      <dsp:spPr>
        <a:xfrm>
          <a:off x="0" y="3764343"/>
          <a:ext cx="10456332" cy="819000"/>
        </a:xfrm>
        <a:prstGeom prst="round1Rect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dashboard and analytics features present project progress, task status, and performance information to support better decision-making.</a:t>
          </a:r>
        </a:p>
      </dsp:txBody>
      <dsp:txXfrm>
        <a:off x="0" y="3764343"/>
        <a:ext cx="10416352" cy="81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3FEC-3F67-CC9F-C6A5-F1C637037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09A96-5805-8BF0-30F1-138A30B92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ACAFB-DF4A-3A2B-1342-C4B771744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8E636-109D-746A-DB16-90A745F7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D21E-C08C-D7D4-BF5B-7C1F7E13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70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6AB8-4752-6F35-5D95-8F1D45722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F5BE2-3149-DBC9-4E66-D5ACD17F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6ADAC-7F91-B15D-04FC-AC331C13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D25D4-29F2-180F-29F6-CC00084B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A0000-F390-F5AD-49AF-83C6A6E5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90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91CC-31B8-305D-8191-1C8BF8503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D88F-9AD7-6EE6-F89D-AD4D55F58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20FD6-B44A-6CAC-EE7F-2FB4573F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6CF7C-5562-200A-02BD-81753820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7A3B9-903F-A039-E99D-A3A0E673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6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B95B-B541-FFFB-10A8-73D7AB64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8B7AD-446A-4175-27FC-3FCB32ACA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44C48-FD4F-AD2A-D1E5-630817069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4ED3D-E685-1508-D1F8-C049B22B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3CA1C-95E1-3944-FAC7-1DDBAF45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C3C22-3E45-08E3-DE12-28CF9792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88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D8C7-ED36-EAF0-BF00-8037D44C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A281F-F5AB-B75F-DD7A-F6259948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53A7E-D920-102A-D074-C99B62354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E845F-2D24-61EB-EDAF-122EC6BB3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0B7A0-8E96-ADCF-7BD1-90B7739BE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231E2-0073-3DBD-EEE3-00699A4D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8DFC1-0ADC-E306-5253-64AE2775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A8608-A871-2D34-97EC-A4F56B11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30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0720-684F-750A-7F60-AC6C6DE9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8A87D-93EE-6975-537A-71829841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8AAFF-99F6-4062-CF17-21F1289B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3C4AA-1673-45EE-DBDE-7A8286DB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3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34E2F-1585-D4CF-759B-C99A7492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8ABEB-C6F7-65F0-D47C-64A3DD30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FE63B-F20F-CE08-D74E-9C0D76C4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14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9A61-48A8-BA89-00D3-DD00307E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6E648-EF85-CE8B-FB87-2DA8ABF4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E1511-3A9E-F6F6-B5E0-1C2765097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FD1E-8AE7-AEE7-8B33-59699F2C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5477-E794-D890-0BD8-CF4B81CF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7FAAE-0B32-10EB-1C50-32B5CB01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8D04-DD67-4F22-D738-555255F65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4E7A3-A2BE-8560-99BD-9E7DC2EB9F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D904-9E67-66EC-DB6A-4198A2FE5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C87F6-EB9A-BB62-E43D-6EC4EE828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7513A-9333-80CE-8F2E-5F82644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5DB17-BFA7-F9D9-6665-0064CE688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20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FEF47-9B2D-DB0C-E045-A5302D6E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EA180-8D96-DE50-ABE0-E21D149FB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9664-ACE7-A601-5AC6-EE2B7046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EE8F6-8B72-F244-189A-18FFC16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61BDB-88F7-CCFD-50B4-0256078C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64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1F018A-239A-926B-A482-C78AF8809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4150F-286D-9459-C47D-7E6BE2EEF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6EF3F-D961-F09B-E792-AED22FCB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133D0-FFDA-4A70-FD47-054D985F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A2185-3F19-47A3-4F83-313E9256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5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338B8-2191-4F26-593B-13815FB42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3DCD8-F08A-7427-F797-60693518F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2BEED-9A70-FECE-3E39-30E94C55F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6B7C9-13FD-4C4D-A621-3603BEEC51E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D38EF-936B-5A65-E1F0-0B5B65BF8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D0A63-6CC0-6E6A-358E-F3952A8FA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405F1-9C42-4F59-8855-A8FA9BC5B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2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CA9FD8E-3B3A-5C12-5037-F5CA91CA7216}"/>
              </a:ext>
            </a:extLst>
          </p:cNvPr>
          <p:cNvSpPr/>
          <p:nvPr/>
        </p:nvSpPr>
        <p:spPr>
          <a:xfrm>
            <a:off x="1755326" y="342080"/>
            <a:ext cx="8703128" cy="1005323"/>
          </a:xfrm>
          <a:custGeom>
            <a:avLst/>
            <a:gdLst/>
            <a:ahLst/>
            <a:cxnLst/>
            <a:rect l="l" t="t" r="r" b="b"/>
            <a:pathLst>
              <a:path w="13708378" h="1764954">
                <a:moveTo>
                  <a:pt x="0" y="0"/>
                </a:moveTo>
                <a:lnTo>
                  <a:pt x="13708378" y="0"/>
                </a:lnTo>
                <a:lnTo>
                  <a:pt x="13708378" y="1764954"/>
                </a:lnTo>
                <a:lnTo>
                  <a:pt x="0" y="176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E901B-06E9-5251-111B-5EC3129F3531}"/>
              </a:ext>
            </a:extLst>
          </p:cNvPr>
          <p:cNvSpPr txBox="1"/>
          <p:nvPr/>
        </p:nvSpPr>
        <p:spPr>
          <a:xfrm>
            <a:off x="2133275" y="2194845"/>
            <a:ext cx="7899725" cy="8377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>
              <a:lnSpc>
                <a:spcPts val="2953"/>
              </a:lnSpc>
              <a:spcBef>
                <a:spcPct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Design and Implementation of a Unified Project Management, Collaboration and Performance Monitoring System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3B907-036D-FBCB-1278-41B27FB17688}"/>
              </a:ext>
            </a:extLst>
          </p:cNvPr>
          <p:cNvSpPr/>
          <p:nvPr/>
        </p:nvSpPr>
        <p:spPr>
          <a:xfrm>
            <a:off x="1618215" y="3943341"/>
            <a:ext cx="1745991" cy="579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8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1256A3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PRESENTED BY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5DDFF-AC3A-66A6-2D0A-DB1F02C25719}"/>
              </a:ext>
            </a:extLst>
          </p:cNvPr>
          <p:cNvSpPr/>
          <p:nvPr/>
        </p:nvSpPr>
        <p:spPr>
          <a:xfrm rot="10800000" flipV="1">
            <a:off x="1260279" y="4709441"/>
            <a:ext cx="3600399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N.Akshaya</a:t>
            </a: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                  (192425129)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1600" dirty="0" err="1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G.Pranathi</a:t>
            </a: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                   (192472237)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Samrakshini G             (192511172)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Tharika S                      (192521140)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A6CD99-D591-D35F-0AC1-8FAD8430DA17}"/>
              </a:ext>
            </a:extLst>
          </p:cNvPr>
          <p:cNvSpPr/>
          <p:nvPr/>
        </p:nvSpPr>
        <p:spPr>
          <a:xfrm>
            <a:off x="8534399" y="4456487"/>
            <a:ext cx="1382494" cy="505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6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1256A3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GUIDED BY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60277B-0AB5-0A8A-A226-529D3396F529}"/>
              </a:ext>
            </a:extLst>
          </p:cNvPr>
          <p:cNvSpPr txBox="1"/>
          <p:nvPr/>
        </p:nvSpPr>
        <p:spPr>
          <a:xfrm>
            <a:off x="3877734" y="3485393"/>
            <a:ext cx="4656665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DSA0107 – OBJECT ORIENTED PROGRAMMING WITH C++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D8DF2-B9F0-9F5E-BE7F-2785AC383B51}"/>
              </a:ext>
            </a:extLst>
          </p:cNvPr>
          <p:cNvSpPr txBox="1"/>
          <p:nvPr/>
        </p:nvSpPr>
        <p:spPr>
          <a:xfrm>
            <a:off x="7958667" y="5225928"/>
            <a:ext cx="26077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JEGADEESH 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Professional, Coimbatore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31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CF4FE-BB01-22FA-D4E3-F0F37A66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020" y="457197"/>
            <a:ext cx="3845878" cy="65847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3F25F-B18F-AF05-76F7-EC759923D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362" y="1730831"/>
            <a:ext cx="6085112" cy="4669972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&amp; Collaboration System is a desktop application designed to simplify project planning, management, and collaboration within an organization.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login interface and user registration facilities to support user access and create a centralized environment for managing project related activities.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collaboration module brings project related comments, file sharing, and announcements together, helping team members exchange information and stay updated on project activities.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and analytics features provide an overview of project progress and task status, helping users monitor performance and make better project management decisions.</a:t>
            </a:r>
          </a:p>
          <a:p>
            <a:pPr algn="just">
              <a:lnSpc>
                <a:spcPct val="11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A32ACCB2-7388-895C-7E4D-E1685AB3D4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B3B550FC-D771-EE7F-0895-11A741C4B2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3AEA14-7965-4726-E9E0-1D55073E95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500" y="1805338"/>
            <a:ext cx="5143500" cy="418120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88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860C-77B2-01E4-3DEB-9A3935B6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7E5E-8B2F-1F70-D85E-C2FCF581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020" y="457197"/>
            <a:ext cx="3845878" cy="65847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88140-D57D-0505-1282-0088077C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560" y="1722667"/>
            <a:ext cx="6085112" cy="4669972"/>
          </a:xfrm>
        </p:spPr>
        <p:txBody>
          <a:bodyPr>
            <a:normAutofit/>
          </a:bodyPr>
          <a:lstStyle/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projects using separate tools and manual methods makes it difficult to organize project information and maintain a clear view of ongoing activities.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project information can make it challenging for team members and project managers to access updates, coordinate responsibilities, and stay informed.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gaps between team members can cause misunderstandings, scattered discussions, and delays in sharing important project-related information and files.</a:t>
            </a:r>
          </a:p>
          <a:p>
            <a:pPr lvl="0" algn="just">
              <a:lnSpc>
                <a:spcPct val="11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clear overview of project status and performance, project managers may find it difficult to identify pending tasks, monitor progress, and make timely decisions.</a:t>
            </a:r>
          </a:p>
          <a:p>
            <a:pPr algn="just">
              <a:lnSpc>
                <a:spcPct val="11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25E7B2AD-7C08-371C-C07F-82F804DE07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3286E8A8-8E71-B53E-01B5-B6D06CB26D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3B9EA-46FA-596B-27BC-A493076CE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1236" y="1869621"/>
            <a:ext cx="5279566" cy="425359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364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BD340-D6AD-F104-31F2-751E73FC7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D7BC-8B18-FC6A-A176-C77273BD2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020" y="397928"/>
            <a:ext cx="3845878" cy="65847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63B3-D1E0-6E7C-86B6-F7AC5B2F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61" y="1908935"/>
            <a:ext cx="5695040" cy="3941533"/>
          </a:xfrm>
        </p:spPr>
        <p:txBody>
          <a:bodyPr>
            <a:normAutofit/>
          </a:bodyPr>
          <a:lstStyle/>
          <a:p>
            <a:pPr lvl="0" algn="just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desktop application that simplifies project creation, project organization, and the management of project-related information in one place.</a:t>
            </a:r>
          </a:p>
          <a:p>
            <a:pPr lvl="0" algn="just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efficient task assignment and milestone tracking facilities that help users monitor deadlines, identify pending activities, and follow project progress.</a:t>
            </a:r>
          </a:p>
          <a:p>
            <a:pPr lvl="0" algn="just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team collaboration by providing features for project discussions, comments, announcements, and notifications to support effective information sharing.</a:t>
            </a:r>
          </a:p>
          <a:p>
            <a:pPr lvl="0" algn="just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dashboards and analytics that present project status and performance information, helping users understand progress and make informed decisions.</a:t>
            </a:r>
          </a:p>
          <a:p>
            <a:pPr algn="just"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FBD3AC61-5361-6D1E-649C-7E4F7E219CC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743" y="15353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C5C1A2D-3F7B-7606-2782-1584046635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2D49F-1B4A-6997-CB10-1704B3DED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170" y="1908935"/>
            <a:ext cx="5533869" cy="415713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231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0282E-E531-7BDD-40CC-B0725714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92FE-5C82-8D23-364B-87D4F139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220" y="407364"/>
            <a:ext cx="3845878" cy="65847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55EF8410-6E41-2E20-D683-DC39624808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B2D42436-1E20-8A47-7152-FB751542DB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4FC10ECB-8E36-3624-9380-4CCD2DF785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512082"/>
              </p:ext>
            </p:extLst>
          </p:nvPr>
        </p:nvGraphicFramePr>
        <p:xfrm>
          <a:off x="821268" y="1629049"/>
          <a:ext cx="10456332" cy="4610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8437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F252F-CF67-0B4A-2357-34323137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430F-E885-82EB-B551-3DA279B1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219" y="297293"/>
            <a:ext cx="4617247" cy="65943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Diagram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CA2201BE-56F8-18D5-3037-F47A74676D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DA08A690-E751-E3C4-09F2-EAA9D45965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B242C1-AB03-7A7C-432A-95F9EE814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7" y="1202266"/>
            <a:ext cx="10879665" cy="5469467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6095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EC93-829B-1AAF-9218-9B21DA68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D168-059E-847A-1609-6E637925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Authentication, Role Based Access Control &amp; Project Management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E1062B9F-7BF6-1B5E-2781-9AE318174F1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35A9E0C8-344C-6436-406F-85C3568439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EADEFF-7D9F-3A7D-7AAB-D9A76BD039CC}"/>
              </a:ext>
            </a:extLst>
          </p:cNvPr>
          <p:cNvSpPr txBox="1"/>
          <p:nvPr/>
        </p:nvSpPr>
        <p:spPr>
          <a:xfrm>
            <a:off x="499381" y="1644639"/>
            <a:ext cx="5283351" cy="42473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securely log in by entering valid credentials, ensuring that only authenticated individuals can access the application and its features.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access permissions are assigned to administrators, project managers, and team members according to their roles and responsibilities.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create and manage user accounts, update user information, and control access privileges to maintain secure project operations.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Authorized users can create new projects, organize project details, and access relevant information based on their assigned permissions.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83814-7344-939B-8EA7-D7318B9B3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183" y="1644638"/>
            <a:ext cx="5817436" cy="42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3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9AEF-DA7D-76D9-23CF-4F3AA13D4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550A-23E8-892B-43BE-8E71ADE7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Task Management &amp; Collaborative Work</a:t>
            </a: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C0B0A6FF-3647-F380-81CB-242AF97FB7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3EED99CC-87A7-A931-0AD7-E05E5F6E76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A25CA3-CE32-D8CB-9606-7335102BCD7A}"/>
              </a:ext>
            </a:extLst>
          </p:cNvPr>
          <p:cNvSpPr txBox="1"/>
          <p:nvPr/>
        </p:nvSpPr>
        <p:spPr>
          <a:xfrm>
            <a:off x="499381" y="1921638"/>
            <a:ext cx="5283351" cy="3693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create, assign, and organize tasks within projects, ensuring that responsibilities are clearly distributed among team members.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priorities, deadlines, and status updates help teams monitor ongoing activities and complete work within the scheduled timeframe.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can collaborate by sharing comments, discussing task-related issues, and exchanging important project information.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progress and assignment details can be tracked centrally, improving coordination, accountability, and overall team productivity</a:t>
            </a:r>
          </a:p>
          <a:p>
            <a:pPr marL="342900" indent="-342900" algn="just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EE910E-5ACC-8C1D-F88B-99DCF396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917" y="1728420"/>
            <a:ext cx="5791702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25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FB51-CC2F-DF04-AD5B-8414E3C5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C66A9-461C-888A-BEC0-FD93A5493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Performance Analytics &amp; Progress Monitoring</a:t>
            </a: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9B232194-1BDD-2D0E-92B1-1A7B8BC8E8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420D01AA-CBF2-2902-B52B-223B89C39C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608AE-F2C3-467F-2CB1-2B75F48861A7}"/>
              </a:ext>
            </a:extLst>
          </p:cNvPr>
          <p:cNvSpPr txBox="1"/>
          <p:nvPr/>
        </p:nvSpPr>
        <p:spPr>
          <a:xfrm>
            <a:off x="499381" y="2060137"/>
            <a:ext cx="5286277" cy="341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visual summaries of project performance, helping users understand the current status of ongoing projects.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is monitored through task completion rates, pending activities, and overall project status.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charts and graphical reports help project managers identify delays and evaluate team productivity.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insights support better decision-making by highlighting project bottlenecks and areas that require improvement.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F57A21-0D75-A2CA-9A82-B77885851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209" y="1866112"/>
            <a:ext cx="5563410" cy="403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41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C3CD4-403F-ED03-2C85-B20DD96D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BB04-1AFA-B4E2-C8EC-E9FBAF357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Calendar &amp; Notification Management</a:t>
            </a: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BBC357DB-9471-6658-C3CD-B1F205C02A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65FFBF0B-1FA8-467B-99D9-F3B0AD96C7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870159-F548-E03A-3166-6EB41467CC33}"/>
              </a:ext>
            </a:extLst>
          </p:cNvPr>
          <p:cNvSpPr txBox="1"/>
          <p:nvPr/>
        </p:nvSpPr>
        <p:spPr>
          <a:xfrm>
            <a:off x="575582" y="2143111"/>
            <a:ext cx="5520418" cy="3693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integrated project calendar to organize tasks, deadlines, meetings, and important project milestones in a centralized view.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track upcoming activities and monitor scheduled tasks to ensure that project activities are completed within the planned timeline.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notifications and reminders alert team members about approaching deadlines, upcoming meetings, task assignments, and schedule changes.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project managers identify scheduling conflicts and delayed activities, enabling timely action and better coordination among team members.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426B3-B4FC-25F0-065F-94E7CA73D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59" y="1866112"/>
            <a:ext cx="5208137" cy="372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4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0C63-8E30-EF15-6840-399CB793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5515-EB50-22AA-5E7B-DF94F37D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28AE2384-D3CF-DA6A-E684-B728DB1664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3FECD638-0E56-6EC1-21CF-F905AE4A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670E3B-4B8A-27AD-6190-2E6345DAC2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3"/>
          <a:stretch>
            <a:fillRect/>
          </a:stretch>
        </p:blipFill>
        <p:spPr>
          <a:xfrm>
            <a:off x="1253067" y="1456267"/>
            <a:ext cx="8695267" cy="520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10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094C-0A61-FC6A-B7F3-D8A91D9C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8FF1-D976-0015-02EB-67C4B665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3AA2406C-5D00-E966-B8FE-A74AB253EA3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32614B81-3B63-6FCD-65BA-0335CCAC3F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2C3BD3-7CFF-96DF-D3E5-29DB9551F910}"/>
              </a:ext>
            </a:extLst>
          </p:cNvPr>
          <p:cNvSpPr txBox="1"/>
          <p:nvPr/>
        </p:nvSpPr>
        <p:spPr>
          <a:xfrm>
            <a:off x="575582" y="1727612"/>
            <a:ext cx="5172760" cy="45243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Streamlines project activities by reducing manual effort, improving workflow efficiency, and helping teams complete tasks within the planned timeline.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and collaboration among team members by providing centralized project information, task updates, and shared progress reports.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monitoring of project progress by tracking task completion, upcoming deadlines, pending activities, and overall project performance.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effective decision-making through analytical reports and performance insights, helping managers identify delays, optimize resources, and improve project outcomes.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B84A3-26F2-D4D2-20D5-D172AFAB0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27612"/>
            <a:ext cx="5396103" cy="421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62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6C68-9316-D7CC-4807-22CC96F5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4311-6EC5-0983-2576-8DBB6395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486" y="287576"/>
            <a:ext cx="8995438" cy="9316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5;p2">
            <a:extLst>
              <a:ext uri="{FF2B5EF4-FFF2-40B4-BE49-F238E27FC236}">
                <a16:creationId xmlns:a16="http://schemas.microsoft.com/office/drawing/2014/main" id="{8EA65CF8-BEA4-D6F8-D7C4-A542F11C5E7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51164" cy="10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4;p2">
            <a:extLst>
              <a:ext uri="{FF2B5EF4-FFF2-40B4-BE49-F238E27FC236}">
                <a16:creationId xmlns:a16="http://schemas.microsoft.com/office/drawing/2014/main" id="{E0067DC9-DA5F-4592-BD6C-20A876C874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1593" y="15353"/>
            <a:ext cx="1080407" cy="931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2A90BB-AA9F-3130-76CB-260B4CA0B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59" y="1866112"/>
            <a:ext cx="5208137" cy="3721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5705AF-2654-A68B-F7F7-AC5B79E69ABB}"/>
              </a:ext>
            </a:extLst>
          </p:cNvPr>
          <p:cNvSpPr txBox="1"/>
          <p:nvPr/>
        </p:nvSpPr>
        <p:spPr>
          <a:xfrm>
            <a:off x="329205" y="1587143"/>
            <a:ext cx="576679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EPMS provides a centralized platform for managing project tasks, schedules, deadlines, and team activities, making project planning and execution more organized and efficient.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communication and collaboration among team members by providing shared project information, task updates, and clear visibility into individual responsibilities.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continuous project progress monitoring through performance dashboards, analytical charts, and reports that help identify delays, pending tasks, and areas requiring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decision-making and resource management by providing useful project insights, helping managers resolve issues early, improve productivity, and achieve successful project completion within the planned timeline.</a:t>
            </a:r>
          </a:p>
        </p:txBody>
      </p:sp>
    </p:spTree>
    <p:extLst>
      <p:ext uri="{BB962C8B-B14F-4D97-AF65-F5344CB8AC3E}">
        <p14:creationId xmlns:p14="http://schemas.microsoft.com/office/powerpoint/2010/main" val="392371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1026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PowerPoint Presentation</vt:lpstr>
      <vt:lpstr>Abstract</vt:lpstr>
      <vt:lpstr>Problem Statement</vt:lpstr>
      <vt:lpstr>Objectives</vt:lpstr>
      <vt:lpstr>Proposed System</vt:lpstr>
      <vt:lpstr>System Architecture Diagram</vt:lpstr>
      <vt:lpstr>Module 1: User Authentication, Role Based Access Control &amp; Project Management </vt:lpstr>
      <vt:lpstr>Module 2: Intelligent Task Management &amp; Collaborative Work</vt:lpstr>
      <vt:lpstr>Module 3: Project Performance Analytics &amp; Progress Monitoring</vt:lpstr>
      <vt:lpstr>Module 4: Project Calendar &amp; Notification Management</vt:lpstr>
      <vt:lpstr>Sample Output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Samrakshini G</dc:creator>
  <cp:lastModifiedBy>Samrakshini G</cp:lastModifiedBy>
  <cp:revision>2</cp:revision>
  <dcterms:created xsi:type="dcterms:W3CDTF">2026-10-26T14:45:56Z</dcterms:created>
  <dcterms:modified xsi:type="dcterms:W3CDTF">2026-10-27T02:38:20Z</dcterms:modified>
</cp:coreProperties>
</file>